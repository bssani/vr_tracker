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VR-Based Vehicle Ergonomics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0F7FF"/>
                </a:solidFill>
                <a:latin typeface="Calibri"/>
              </a:rPr>
              <a:t>How We're Using Virtual Reality to Design
Safer, More Comfortable Vehicles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5486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BBCC"/>
                </a:solidFill>
                <a:latin typeface="Calibri"/>
              </a:rPr>
              <a:t>Leadership Briefing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86868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24358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093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Calibri"/>
              </a:rPr>
              <a:t>Why ergonomic issues persist in traditional vehicle development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303520" cy="86868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261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24358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 Human 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6093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Calibri"/>
              </a:rPr>
              <a:t>How the human body creates design blind spots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5303520" cy="86868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2677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24942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61518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Calibri"/>
              </a:rPr>
              <a:t>VR-based body tracking and collision measurement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94560"/>
            <a:ext cx="5303520" cy="86868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2677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24942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61518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Calibri"/>
              </a:rPr>
              <a:t>Four-step workflow from setup to insight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5303520" cy="86868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2552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What We Measure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62102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Calibri"/>
              </a:rPr>
              <a:t>5 body points, 3 warning levels, real-time feedback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5303520" cy="86868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2552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Accuracy &amp; Calibration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62102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Calibri"/>
              </a:rPr>
              <a:t>Per-subject body modeling and measurement specs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06240"/>
            <a:ext cx="5303520" cy="86868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279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6110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6268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Calibri"/>
              </a:rPr>
              <a:t>What every session produces for engineering teams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206240"/>
            <a:ext cx="5303520" cy="86868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4279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26110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Business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46268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Calibri"/>
              </a:rPr>
              <a:t>Cost, speed, and decision quality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212080"/>
            <a:ext cx="5303520" cy="86868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52852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2669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Current 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3270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Calibri"/>
              </a:rPr>
              <a:t>Where we are and what comes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Every car has a blind spot in the design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474720" cy="2286000"/>
          </a:xfrm>
          <a:prstGeom prst="rect">
            <a:avLst/>
          </a:prstGeom>
          <a:solidFill>
            <a:srgbClr val="16213E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6B6B"/>
                </a:solidFill>
                <a:latin typeface="Calibri"/>
              </a:rPr>
              <a:t>10×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F7FF"/>
                </a:solidFill>
                <a:latin typeface="Calibri"/>
              </a:rPr>
              <a:t>More expensive to fix ergonomic
issues after physical prototyping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23444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E0F7FF"/>
                </a:solidFill>
                <a:latin typeface="Calibri"/>
              </a:rPr>
              <a:t>▸  Ergonomic issues are discovered too late — after manufacturing commitments are made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0F7FF"/>
                </a:solidFill>
                <a:latin typeface="Calibri"/>
              </a:rPr>
              <a:t>▸  Drivers bump their knee on the AC unit, scrape their shin on the door frame, or can't
   comfortably enter/exit the vehicle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0F7FF"/>
                </a:solidFill>
                <a:latin typeface="Calibri"/>
              </a:rPr>
              <a:t>▸  Physical prototypes are expensive and slow to iterate — each design change costs weeks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0F7FF"/>
                </a:solidFill>
                <a:latin typeface="Calibri"/>
              </a:rPr>
              <a:t>▸  Subjective feedback ('it felt tight') is difficult to act on — engineers need numbers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E0F7FF"/>
                </a:solidFill>
                <a:latin typeface="Calibri"/>
              </a:rPr>
              <a:t>▸  A standard-size mannequin cannot capture the full range of real driver body shapes and motions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The Human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It's not a design problem — it's a human body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137160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5430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166"/>
                </a:solidFill>
                <a:latin typeface="Calibri"/>
              </a:rPr>
              <a:t>"The gap between 'fits on paper' and 'fits in real life' is where discomfort and injury risks hide."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3657600" cy="356616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Human Bodies Move in Arcs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Vehicles are measured in millimeters on a screen
But a driver's knee swings in a 3D arc on entry/exit
Static clearance measurements miss dynamic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Vehicles are measured in millimeters on a screen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But a driver's knee swings in a 3D arc on entry/exit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Static clearance measurements miss dynamic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743200"/>
            <a:ext cx="3657600" cy="356616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834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Everyone Is Different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3200400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Leg length, hip width, and entry angle vary widely
A design safe for 5th-percentile female may harm 95th-percentile male
One 'average' mannequin can't represent your full customer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291840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Leg length, hip width, and entry angle vary widely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A design safe for 5th-percentile female may harm 95th-percentile male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One 'average' mannequin can't represent your full customer 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2743200"/>
            <a:ext cx="3657600" cy="356616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834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Motion Reveals Problems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200400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Critical collisions happen in motion, not at rest
Entry and exit sequences are the highest-risk moments
These cannot be tested with a static digital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291840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Critical collisions happen in motion, not at rest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Entry and exit sequences are the highest-risk moments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These cannot be tested with a static digital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Test the human body — before building the car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57600" cy="512064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VR  Virtual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E0F7FF"/>
                </a:solidFill>
                <a:latin typeface="Calibri"/>
              </a:rPr>
              <a:t>▸  The driver wears a VR headset and walks through
a full-scale digital vehicle interior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0F7FF"/>
                </a:solidFill>
                <a:latin typeface="Calibri"/>
              </a:rPr>
              <a:t>▸  No physical prototype required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0F7FF"/>
                </a:solidFill>
                <a:latin typeface="Calibri"/>
              </a:rPr>
              <a:t>▸  Any vehicle design can be tested on the same day it is created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188720"/>
            <a:ext cx="3657600" cy="5120640"/>
          </a:xfrm>
          <a:prstGeom prst="rect">
            <a:avLst/>
          </a:prstGeom>
          <a:solidFill>
            <a:srgbClr val="16213E"/>
          </a:solidFill>
          <a:ln w="15240"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188720"/>
            <a:ext cx="3657600" cy="50292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23444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Body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82880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E0F7FF"/>
                </a:solidFill>
                <a:latin typeface="Calibri"/>
              </a:rPr>
              <a:t>▸  5 sensors on the body (waist, both knees, both feet)
capture exact position in real time — 90 times per second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0F7FF"/>
                </a:solidFill>
                <a:latin typeface="Calibri"/>
              </a:rPr>
              <a:t>▸  A digital body model mirrors every movement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0F7FF"/>
                </a:solidFill>
                <a:latin typeface="Calibri"/>
              </a:rPr>
              <a:t>▸  Calibrated individually to each test subject's proportions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1188720"/>
            <a:ext cx="3657600" cy="5120640"/>
          </a:xfrm>
          <a:prstGeom prst="rect">
            <a:avLst/>
          </a:prstGeom>
          <a:solidFill>
            <a:srgbClr val="16213E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1188720"/>
            <a:ext cx="3657600" cy="502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123444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Collision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182880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E0F7FF"/>
                </a:solidFill>
                <a:latin typeface="Calibri"/>
              </a:rPr>
              <a:t>▸  The system automatically measures how close
every body part gets to every vehicle component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0F7FF"/>
                </a:solidFill>
                <a:latin typeface="Calibri"/>
              </a:rPr>
              <a:t>▸  Three alert levels: Safe / Warning / Collision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0F7FF"/>
                </a:solidFill>
                <a:latin typeface="Calibri"/>
              </a:rPr>
              <a:t>▸  Every measurement is logged to a data file for engineering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B4D8"/>
                </a:solidFill>
                <a:latin typeface="Calibri"/>
              </a:rPr>
              <a:t>Real human movement.  Digital vehicle.  Data you can act 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Four steps from setup to insight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2606040" cy="411480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344168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325880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3441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Strap On Sensors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F7FF"/>
                </a:solidFill>
                <a:latin typeface="Calibri"/>
              </a:rPr>
              <a:t>HMD headset + 5 Vive Trackers attached to waist, both knees, and both feet
~2 min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4096" y="31089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1234440"/>
            <a:ext cx="2606040" cy="411480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02152" y="1344168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1296" y="1325880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13441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Calibrate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1783080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F7FF"/>
                </a:solidFill>
                <a:latin typeface="Calibri"/>
              </a:rPr>
              <a:t>Subject stands in T-Pose for 10 seconds. System measures individual body proportions.
~10 sec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8" y="31089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18504" y="1234440"/>
            <a:ext cx="2606040" cy="411480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55664" y="1344168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1325880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8584" y="13441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Enter the Vehicle in 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1783080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F7FF"/>
                </a:solidFill>
                <a:latin typeface="Calibri"/>
              </a:rPr>
              <a:t>Subject performs entry/exit sequence inside the digital vehicle. System tracks every movement.
~5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1089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72016" y="1234440"/>
            <a:ext cx="2606040" cy="411480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09176" y="1344168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325880"/>
            <a:ext cx="39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12096" y="13441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Review the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1783080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F7FF"/>
                </a:solidFill>
                <a:latin typeface="Calibri"/>
              </a:rPr>
              <a:t>CSV report generated: minimum clearances, warning events, collision log — ready for engineering review.
~1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623560"/>
            <a:ext cx="1136599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71500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Total time per session:  ~10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What We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5 body points · 3 warning levels · real-time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943600" cy="502920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  <a:latin typeface="Calibri"/>
              </a:rPr>
              <a:t>Body Tracking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13258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74519" y="1737360"/>
            <a:ext cx="13258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737360"/>
            <a:ext cx="297180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8288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Sensor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28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Monitors Against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Waist / 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5146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Tracker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5146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Seat rail, center console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004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Left Knee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2004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Tracker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2004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Steering column,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862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Right Knee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8862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Tracker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886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Center console, glove 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720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Left Foot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5720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Tracker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5720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Dead pedal, footwell floor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2578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Right Foot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2578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Tracker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5257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Pedals, footwell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1188720"/>
            <a:ext cx="5212080" cy="1417320"/>
          </a:xfrm>
          <a:prstGeom prst="rect">
            <a:avLst/>
          </a:prstGeom>
          <a:solidFill>
            <a:srgbClr val="16213E"/>
          </a:solidFill>
          <a:ln w="15240"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1188720"/>
            <a:ext cx="1005840" cy="141732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12801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  <a:latin typeface="Calibri"/>
              </a:rPr>
              <a:t>SAFE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126187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7CC99"/>
                </a:solidFill>
                <a:latin typeface="Calibri"/>
              </a:rPr>
              <a:t>&gt; 10 cm clearance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169164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F7FF"/>
                </a:solidFill>
                <a:latin typeface="Calibri"/>
              </a:rPr>
              <a:t>No action needed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743200"/>
            <a:ext cx="5212080" cy="1417320"/>
          </a:xfrm>
          <a:prstGeom prst="rect">
            <a:avLst/>
          </a:prstGeom>
          <a:solidFill>
            <a:srgbClr val="16213E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2743200"/>
            <a:ext cx="1005840" cy="14173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28346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  <a:latin typeface="Calibri"/>
              </a:rPr>
              <a:t>WARNING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281635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  <a:latin typeface="Calibri"/>
              </a:rPr>
              <a:t>3 – 10 cm clearance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324612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F7FF"/>
                </a:solidFill>
                <a:latin typeface="Calibri"/>
              </a:rPr>
              <a:t>Screen darkens · alert tone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4297680"/>
            <a:ext cx="5212080" cy="1417320"/>
          </a:xfrm>
          <a:prstGeom prst="rect">
            <a:avLst/>
          </a:prstGeom>
          <a:solidFill>
            <a:srgbClr val="16213E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0" y="4297680"/>
            <a:ext cx="1005840" cy="1417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3891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  <a:latin typeface="Calibri"/>
              </a:rPr>
              <a:t>COLLISION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437083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6B"/>
                </a:solidFill>
                <a:latin typeface="Calibri"/>
              </a:rPr>
              <a:t>&lt; 3 cm clearance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79" y="480060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F7FF"/>
                </a:solidFill>
                <a:latin typeface="Calibri"/>
              </a:rPr>
              <a:t>Screen darkens fully · impact
sound · visual FX at contact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943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  <a:latin typeface="Calibri"/>
              </a:rPr>
              <a:t>Thresholds are fully configurable per test session.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Immersive Feedback in VR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The driver feels the problem — not just sees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521208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161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Visual  —  Screen Vignette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3832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As a body part approaches a vehicle component, the edges of the VR display darken progressively.
Full darkness at collision level — the subject's natural instinct is to adjust without verbal instruction.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188720"/>
            <a:ext cx="3657600" cy="5212080"/>
          </a:xfrm>
          <a:prstGeom prst="rect">
            <a:avLst/>
          </a:prstGeom>
          <a:solidFill>
            <a:srgbClr val="16213E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188720"/>
            <a:ext cx="3657600" cy="4572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2161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Audio  —  Alert Tones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783080"/>
            <a:ext cx="33832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A soft alert tone plays at warning distance.
A sharp impact sound plays at collision distance.
Real-world auditory instinct takes over — no coaching needed.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188720"/>
            <a:ext cx="3657600" cy="5212080"/>
          </a:xfrm>
          <a:prstGeom prst="rect">
            <a:avLst/>
          </a:prstGeom>
          <a:solidFill>
            <a:srgbClr val="16213E"/>
          </a:solidFill>
          <a:ln w="15240"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188720"/>
            <a:ext cx="3657600" cy="45720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12161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Spatial  —  Impact Visual FX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1783080"/>
            <a:ext cx="33832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A particle burst appears precisely where contact would occur, anchoring the collision in 3D space.
Subjects look toward the contact point naturally, reinforcing body awareness.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Subjects react naturally. The data reflects how a real person behaves — not how they respond to verbal instructions.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Accuracy &amp;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The system adapts to every body — not one average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029200" cy="512064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  <a:latin typeface="Calibri"/>
              </a:rPr>
              <a:t>Calibration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Subject stands in T-Pose (arms extended, legs together)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10-second hold — system automatically captures measurement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4 segment lengths measured: Hip→Knee and Knee→Foot for both legs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Height estimated from headset position (±5 cm, manual override available)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Personal body model created — used for all measurements in this session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Re-calibration available at any time without restarting the session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188720"/>
            <a:ext cx="6126480" cy="5120640"/>
          </a:xfrm>
          <a:prstGeom prst="rect">
            <a:avLst/>
          </a:prstGeom>
          <a:solidFill>
            <a:srgbClr val="16213E"/>
          </a:solidFill>
          <a:ln w="15240"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2801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7CC99"/>
                </a:solidFill>
                <a:latin typeface="Calibri"/>
              </a:rPr>
              <a:t>Accuracy Specifications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7373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Calibri"/>
              </a:rPr>
              <a:t>Tracker hardware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737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±1–2 mm  (HTC Vive Tracker 3.0)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3774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Calibri"/>
              </a:rPr>
              <a:t>Tracking update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90 times per second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017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Calibri"/>
              </a:rPr>
              <a:t>Collision check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30 times per second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Calibri"/>
              </a:rPr>
              <a:t>Minimum valid measurement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6576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Any segment &lt; 10 cm triggers
re-calibration automatically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4297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Calibri"/>
              </a:rPr>
              <a:t>Height estimation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297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HMD position × 0.92 correction
(or manual entry)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49377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Calibri"/>
              </a:rPr>
              <a:t>Warning 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937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10 cm  (configurable 0–50 cm)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55778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Calibri"/>
              </a:rPr>
              <a:t>Collision threshold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577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3 cm   (configurable 0–20 cm)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We are not testing a 'standard person.'  We are testing this person, in this body, in this vehicle.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The Data We Collect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Every session produces actionable engineering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512064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2529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Session Summary Report   (1 row per session)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Subject ID  &amp;  Height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Individual body segment measurements  (hip→knee, knee→foot)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Minimum clearance recorded  — per vehicle component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Total warning events  and  collision events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Which body part triggered each event  +  timestamp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Session date, duration, and test configuration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5120640"/>
          </a:xfrm>
          <a:prstGeom prst="rect">
            <a:avLst/>
          </a:prstGeom>
          <a:solidFill>
            <a:srgbClr val="16213E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502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2529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Full Frame Data Log   (optional, 10 Hz)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Position of all 5 body points  —  recorded every 100 ms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Distance to every reference point  —  every frame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Complete 3D motion path for post-session reconstruction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Full timeline of warning state changes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▸  Enables statistical analysis across multiple subjects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Output format:  CSV  —  opens directly in Excel · compatible with statistical analysis tools · no special software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A Typical Test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Driver entry/exit sequence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43200" cy="4206240"/>
          </a:xfrm>
          <a:prstGeom prst="rect">
            <a:avLst/>
          </a:prstGeom>
          <a:solidFill>
            <a:srgbClr val="16213E"/>
          </a:solidFill>
          <a:ln w="15240"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45720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Subject A (178 cm, male) approaches the driver door and reaches for the handle.
All clearances: SAFE
No warnings triggered.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1089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188720"/>
            <a:ext cx="2743200" cy="4206240"/>
          </a:xfrm>
          <a:prstGeom prst="rect">
            <a:avLst/>
          </a:prstGeom>
          <a:solidFill>
            <a:srgbClr val="16213E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3552" y="1188720"/>
            <a:ext cx="2743200" cy="4572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12070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Entry — Step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1737360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Left knee swings toward dashboard during step-in motion.
⚠  WARNING
Left Knee / Dashboard
Clearance: 7.3 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31089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188720"/>
            <a:ext cx="2743200" cy="4206240"/>
          </a:xfrm>
          <a:prstGeom prst="rect">
            <a:avLst/>
          </a:prstGeom>
          <a:solidFill>
            <a:srgbClr val="16213E"/>
          </a:solidFill>
          <a:ln w="15240"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188720"/>
            <a:ext cx="2743200" cy="45720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2070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Seated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737360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Subject settles into the seat position.
All clearances return to SAFE.
No active warnings.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31089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9136" y="1188720"/>
            <a:ext cx="2743200" cy="4206240"/>
          </a:xfrm>
          <a:prstGeom prst="rect">
            <a:avLst/>
          </a:prstGeom>
          <a:solidFill>
            <a:srgbClr val="16213E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89136" y="1188720"/>
            <a:ext cx="274320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6" y="12070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Exit — Step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1737360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Right knee catches center console during exit motion.
🔴  COLLISION
Right Knee / Center Console
Clearance: 1.1 cm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77840"/>
            <a:ext cx="11457432" cy="1097280"/>
          </a:xfrm>
          <a:prstGeom prst="rect">
            <a:avLst/>
          </a:prstGeom>
          <a:solidFill>
            <a:srgbClr val="16213E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69280"/>
            <a:ext cx="11091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Post-Test Output:   Minimum clearance: 1.1 cm  (Right Knee / Center Console)   →   Engineering recommendation: Widen center console cutout by 15 mm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Why This Beats Traditional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Faster insights · Earlier in the process · Lower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188720"/>
            <a:ext cx="4206240" cy="5943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2344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Traditional Physical Testing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188720"/>
            <a:ext cx="4023360" cy="59436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2344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Our VR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301752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74519"/>
            <a:ext cx="420624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1874519"/>
            <a:ext cx="402336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65959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BBCC"/>
                </a:solidFill>
                <a:latin typeface="Calibri"/>
              </a:rPr>
              <a:t>When in the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965959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Calibri"/>
              </a:rPr>
              <a:t>✗  Post-prototype (too late)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965959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7CC99"/>
                </a:solidFill>
                <a:latin typeface="Calibri"/>
              </a:rPr>
              <a:t>✓  Pre-prototype (early design)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32887"/>
            <a:ext cx="3017520" cy="621792"/>
          </a:xfrm>
          <a:prstGeom prst="rect">
            <a:avLst/>
          </a:prstGeom>
          <a:solidFill>
            <a:srgbClr val="12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2532887"/>
            <a:ext cx="4206240" cy="621792"/>
          </a:xfrm>
          <a:prstGeom prst="rect">
            <a:avLst/>
          </a:prstGeom>
          <a:solidFill>
            <a:srgbClr val="12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532887"/>
            <a:ext cx="4023360" cy="621792"/>
          </a:xfrm>
          <a:prstGeom prst="rect">
            <a:avLst/>
          </a:prstGeom>
          <a:solidFill>
            <a:srgbClr val="12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24327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BBCC"/>
                </a:solidFill>
                <a:latin typeface="Calibri"/>
              </a:rPr>
              <a:t>Cost per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624327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Calibri"/>
              </a:rPr>
              <a:t>✗  High — prototype + lab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24327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7CC99"/>
                </a:solidFill>
                <a:latin typeface="Calibri"/>
              </a:rPr>
              <a:t>✓  Low — virtual, fully repeatable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91255"/>
            <a:ext cx="301752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0" y="3191255"/>
            <a:ext cx="420624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3191255"/>
            <a:ext cx="402336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82695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BBCC"/>
                </a:solidFill>
                <a:latin typeface="Calibri"/>
              </a:rPr>
              <a:t>Time to set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282695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Calibri"/>
              </a:rPr>
              <a:t>✗  Days to weeks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282695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7CC99"/>
                </a:solidFill>
                <a:latin typeface="Calibri"/>
              </a:rPr>
              <a:t>✓  Minutes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49623"/>
            <a:ext cx="3017520" cy="621792"/>
          </a:xfrm>
          <a:prstGeom prst="rect">
            <a:avLst/>
          </a:prstGeom>
          <a:solidFill>
            <a:srgbClr val="12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0" y="3849623"/>
            <a:ext cx="4206240" cy="621792"/>
          </a:xfrm>
          <a:prstGeom prst="rect">
            <a:avLst/>
          </a:prstGeom>
          <a:solidFill>
            <a:srgbClr val="12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3849623"/>
            <a:ext cx="4023360" cy="621792"/>
          </a:xfrm>
          <a:prstGeom prst="rect">
            <a:avLst/>
          </a:prstGeom>
          <a:solidFill>
            <a:srgbClr val="12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41063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BBCC"/>
                </a:solidFill>
                <a:latin typeface="Calibri"/>
              </a:rPr>
              <a:t>Data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941063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Calibri"/>
              </a:rPr>
              <a:t>✗  Subjective verbal feedback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941063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7CC99"/>
                </a:solidFill>
                <a:latin typeface="Calibri"/>
              </a:rPr>
              <a:t>✓  Quantified distance &amp; collision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507991"/>
            <a:ext cx="301752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74720" y="4507991"/>
            <a:ext cx="420624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0" y="4507991"/>
            <a:ext cx="402336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599431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BBCC"/>
                </a:solidFill>
                <a:latin typeface="Calibri"/>
              </a:rPr>
              <a:t>Design iteration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599431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Calibri"/>
              </a:rPr>
              <a:t>✗  New physical prototype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599431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7CC99"/>
                </a:solidFill>
                <a:latin typeface="Calibri"/>
              </a:rPr>
              <a:t>✓  Change digital model, retest same 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66359"/>
            <a:ext cx="3017520" cy="621792"/>
          </a:xfrm>
          <a:prstGeom prst="rect">
            <a:avLst/>
          </a:prstGeom>
          <a:solidFill>
            <a:srgbClr val="12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74720" y="5166359"/>
            <a:ext cx="4206240" cy="621792"/>
          </a:xfrm>
          <a:prstGeom prst="rect">
            <a:avLst/>
          </a:prstGeom>
          <a:solidFill>
            <a:srgbClr val="12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5166359"/>
            <a:ext cx="4023360" cy="621792"/>
          </a:xfrm>
          <a:prstGeom prst="rect">
            <a:avLst/>
          </a:prstGeom>
          <a:solidFill>
            <a:srgbClr val="12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257799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BBCC"/>
                </a:solidFill>
                <a:latin typeface="Calibri"/>
              </a:rPr>
              <a:t>Subject variation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5257799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Calibri"/>
              </a:rPr>
              <a:t>✗  Difficult to 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5257799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7CC99"/>
                </a:solidFill>
                <a:latin typeface="Calibri"/>
              </a:rPr>
              <a:t>✓  Same protocol every time, any body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824727"/>
            <a:ext cx="301752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5824727"/>
            <a:ext cx="420624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5824727"/>
            <a:ext cx="402336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916167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BBCC"/>
                </a:solidFill>
                <a:latin typeface="Calibri"/>
              </a:rPr>
              <a:t>Collision detection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916167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Calibri"/>
              </a:rPr>
              <a:t>✗  Visual inspection only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916167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7CC99"/>
                </a:solidFill>
                <a:latin typeface="Calibri"/>
              </a:rPr>
              <a:t>✓  Millimeter-accurate, automated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How It's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Six modular systems working together — each independently configurable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2476" y="1234440"/>
            <a:ext cx="9144000" cy="658368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2476" y="1234440"/>
            <a:ext cx="219456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3916" y="13441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Hardware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4196" y="136245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HMD headset  +  5 Vive Trackers (waist, knees, feet)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1596" y="18928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4D8"/>
                </a:solidFill>
                <a:latin typeface="Calibri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2476" y="2167128"/>
            <a:ext cx="9144000" cy="658368"/>
          </a:xfrm>
          <a:prstGeom prst="rect">
            <a:avLst/>
          </a:prstGeom>
          <a:solidFill>
            <a:srgbClr val="16213E"/>
          </a:solidFill>
          <a:ln w="15240">
            <a:solidFill>
              <a:srgbClr val="E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22476" y="2167128"/>
            <a:ext cx="2194560" cy="658368"/>
          </a:xfrm>
          <a:prstGeom prst="rect">
            <a:avLst/>
          </a:prstGeom>
          <a:solidFill>
            <a:srgbClr val="E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13916" y="227685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Body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4196" y="229514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Digital skeleton mirrors every movement in real time  (90 FPS)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1596" y="28254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4D8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22476" y="3099816"/>
            <a:ext cx="9144000" cy="658368"/>
          </a:xfrm>
          <a:prstGeom prst="rect">
            <a:avLst/>
          </a:prstGeom>
          <a:solidFill>
            <a:srgbClr val="16213E"/>
          </a:solidFill>
          <a:ln w="15240">
            <a:solidFill>
              <a:srgbClr val="E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22476" y="3099816"/>
            <a:ext cx="2194560" cy="658368"/>
          </a:xfrm>
          <a:prstGeom prst="rect">
            <a:avLst/>
          </a:prstGeom>
          <a:solidFill>
            <a:srgbClr val="E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13916" y="320954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Vehicle 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4196" y="3227832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Marked target zones placed on dashboard, console, footwell, etc.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1596" y="37581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4D8"/>
                </a:solidFill>
                <a:latin typeface="Calibri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22476" y="4032504"/>
            <a:ext cx="9144000" cy="658368"/>
          </a:xfrm>
          <a:prstGeom prst="rect">
            <a:avLst/>
          </a:prstGeom>
          <a:solidFill>
            <a:srgbClr val="16213E"/>
          </a:solidFill>
          <a:ln w="15240">
            <a:solidFill>
              <a:srgbClr val="E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22476" y="4032504"/>
            <a:ext cx="2194560" cy="658368"/>
          </a:xfrm>
          <a:prstGeom prst="rect">
            <a:avLst/>
          </a:prstGeom>
          <a:solidFill>
            <a:srgbClr val="E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13916" y="41422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Collision Detector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4196" y="41605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Measures distance from each body point to each vehicle zone  (30 Hz)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11596" y="46908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4D8"/>
                </a:solidFill>
                <a:latin typeface="Calibri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22476" y="4965192"/>
            <a:ext cx="9144000" cy="658368"/>
          </a:xfrm>
          <a:prstGeom prst="rect">
            <a:avLst/>
          </a:prstGeom>
          <a:solidFill>
            <a:srgbClr val="16213E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22476" y="4965192"/>
            <a:ext cx="2194560" cy="6583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13916" y="5074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Feedback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4196" y="509320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Visual darkening  ·  Audio alert  ·  3D impact effect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11596" y="5623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4D8"/>
                </a:solidFill>
                <a:latin typeface="Calibri"/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22476" y="5897880"/>
            <a:ext cx="9144000" cy="658368"/>
          </a:xfrm>
          <a:prstGeom prst="rect">
            <a:avLst/>
          </a:prstGeom>
          <a:solidFill>
            <a:srgbClr val="16213E"/>
          </a:solidFill>
          <a:ln w="15240"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22476" y="5897880"/>
            <a:ext cx="2194560" cy="658368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13916" y="60076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Data Logger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4196" y="602589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Saves every measurement to CSV for post-session engineering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9224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  <a:latin typeface="Calibri"/>
              </a:rPr>
              <a:t>All six components are modular — each can be updated, swapped, or tuned independently.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Cost reduction · Speed to market · Data-driven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5303520"/>
          </a:xfrm>
          <a:prstGeom prst="rect">
            <a:avLst/>
          </a:prstGeom>
          <a:solidFill>
            <a:srgbClr val="16213E"/>
          </a:solidFill>
          <a:ln w="15240"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50292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1615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Cost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Catching an ergonomic issue in VR — before a physical prototype exists — eliminates costly late-stage design changes.
Industry estimates: 10–100× cheaper to fix in digital vs. physical prototype stage.
One avoided prototype revision can fund the entire VR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188720"/>
            <a:ext cx="3657600" cy="5303520"/>
          </a:xfrm>
          <a:prstGeom prst="rect">
            <a:avLst/>
          </a:prstGeom>
          <a:solidFill>
            <a:srgbClr val="16213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188720"/>
            <a:ext cx="36576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21615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Speed to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82880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Testing does not wait for a physical vehicle to be built.
Design teams can run ergonomic validation in parallel with CAD/CAM work, compressing the development timeline.
Multiple design variants can be tested in a single 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188720"/>
            <a:ext cx="3657600" cy="5303520"/>
          </a:xfrm>
          <a:prstGeom prst="rect">
            <a:avLst/>
          </a:prstGeom>
          <a:solidFill>
            <a:srgbClr val="16213E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188720"/>
            <a:ext cx="3657600" cy="502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121615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Data-Driven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182880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Instead of:
"It felt a bit tight"
Engineering teams receive:
"Right Knee / Center Console:
 min. clearance 1.1 cm at t=3.2s
 during door entry sequence"
Every design decision is backed by measurement.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Current Status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Core system complete — first live test session 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5212080"/>
          </a:xfrm>
          <a:prstGeom prst="rect">
            <a:avLst/>
          </a:prstGeom>
          <a:solidFill>
            <a:srgbClr val="16213E"/>
          </a:solidFill>
          <a:ln w="15240"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50292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1615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Complete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✓  Body tracking — 5 points, 90 FPS real-time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✓  Dynamic body model (limb segments + joint spheres)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✓  Per-subject calibration (T-Pose, 10 sec)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✓  Collision detection &amp; distance measurement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✓  Three-level warning system (Safe / Warning / Collision)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✓  Immersive feedback (vignette, audio, impact FX)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✓  Session data logging (summary + full frame CSV)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✓  Session state management (Idle → Calibrate → Test → Review)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0F7FF"/>
                </a:solidFill>
                <a:latin typeface="Calibri"/>
              </a:rPr>
              <a:t>✓  Desktop simulation mode (no headset required for QA/review)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5212080"/>
          </a:xfrm>
          <a:prstGeom prst="rect">
            <a:avLst/>
          </a:prstGeom>
          <a:solidFill>
            <a:srgbClr val="16213E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502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1615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In Progress /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166"/>
                </a:solidFill>
                <a:latin typeface="Calibri"/>
              </a:rPr>
              <a:t>[In Progress]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17830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On-screen HUD (live distance display)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4144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166"/>
                </a:solidFill>
                <a:latin typeface="Calibri"/>
              </a:rPr>
              <a:t>[In Progress]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441448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Subject info input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99816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166"/>
                </a:solidFill>
                <a:latin typeface="Calibri"/>
              </a:rPr>
              <a:t>[In Progress]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099816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Visual materials for body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58184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[Next]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758184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First complete test level with vehicle mesh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1655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[Next]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416552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First closed-loop session with real vehicle
model and human subject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074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[Next]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50749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Statistical analysis across subject pool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73328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BBCC"/>
                </a:solidFill>
                <a:latin typeface="Calibri"/>
              </a:rPr>
              <a:t>[Future]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5733288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7FF"/>
                </a:solidFill>
                <a:latin typeface="Calibri"/>
              </a:rPr>
              <a:t>Multi-vehicle comparative study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Designed for Humans.
Validated by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97480"/>
            <a:ext cx="5486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54864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0F7FF"/>
                </a:solidFill>
                <a:latin typeface="Calibri"/>
              </a:rPr>
              <a:t>This solves a real human problem — ergonomic failures affect real drivers, not just metrics.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703320"/>
            <a:ext cx="54864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7033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0F7FF"/>
                </a:solidFill>
                <a:latin typeface="Calibri"/>
              </a:rPr>
              <a:t>The system is measurement-first — every interaction becomes a data point, not an opinion.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572000"/>
            <a:ext cx="54864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5720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0F7FF"/>
                </a:solidFill>
                <a:latin typeface="Calibri"/>
              </a:rPr>
              <a:t>It is designed to scale — any vehicle model, any body size, any team can run a session.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